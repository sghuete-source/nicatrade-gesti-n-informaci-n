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Nunito"/>
      <p:regular r:id="rId9"/>
      <p:bold r:id="rId10"/>
      <p:italic r:id="rId11"/>
      <p:boldItalic r:id="rId12"/>
    </p:embeddedFont>
    <p:embeddedFont>
      <p:font typeface="Maven Pro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Y+YgtjSHdx6+8Ut5Y7/0REGw5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italic.fntdata"/><Relationship Id="rId10" Type="http://schemas.openxmlformats.org/officeDocument/2006/relationships/font" Target="fonts/Nunito-bold.fntdata"/><Relationship Id="rId13" Type="http://schemas.openxmlformats.org/officeDocument/2006/relationships/font" Target="fonts/MavenPro-regular.fntdata"/><Relationship Id="rId12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Nunito-regular.fntdata"/><Relationship Id="rId15" Type="http://customschemas.google.com/relationships/presentationmetadata" Target="metadata"/><Relationship Id="rId14" Type="http://schemas.openxmlformats.org/officeDocument/2006/relationships/font" Target="fonts/MavenPr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Suma de importe por pais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0B4-44B3-A167-FAC220F3E0B2}"/>
              </c:ext>
            </c:extLst>
          </c:dPt>
          <c:dPt>
            <c:idx val="1"/>
            <c:bubble3D val="0"/>
            <c:spPr>
              <a:solidFill>
                <a:srgbClr val="CFAFE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70B4-44B3-A167-FAC220F3E0B2}"/>
              </c:ext>
            </c:extLst>
          </c:dPt>
          <c:dPt>
            <c:idx val="2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0B4-44B3-A167-FAC220F3E0B2}"/>
              </c:ext>
            </c:extLst>
          </c:dPt>
          <c:dPt>
            <c:idx val="3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0B4-44B3-A167-FAC220F3E0B2}"/>
              </c:ext>
            </c:extLst>
          </c:dPt>
          <c:cat>
            <c:strRef>
              <c:f>Hoja1!$A$2:$A$5</c:f>
              <c:strCache>
                <c:ptCount val="4"/>
                <c:pt idx="0">
                  <c:v>Costa Rica</c:v>
                </c:pt>
                <c:pt idx="1">
                  <c:v>El Salvador</c:v>
                </c:pt>
                <c:pt idx="2">
                  <c:v>Guatemala</c:v>
                </c:pt>
                <c:pt idx="3">
                  <c:v>México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1152</c:v>
                </c:pt>
                <c:pt idx="1">
                  <c:v>1237.5</c:v>
                </c:pt>
                <c:pt idx="2">
                  <c:v>1050</c:v>
                </c:pt>
                <c:pt idx="3">
                  <c:v>36919.5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B4-44B3-A167-FAC220F3E0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35958984604537"/>
          <c:y val="0.94682318605009941"/>
          <c:w val="0.54728067340463038"/>
          <c:h val="5.317681394990053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fb8bc4b9a2_0_4"/>
          <p:cNvGrpSpPr/>
          <p:nvPr/>
        </p:nvGrpSpPr>
        <p:grpSpPr>
          <a:xfrm>
            <a:off x="9790426" y="4546120"/>
            <a:ext cx="2255173" cy="2310006"/>
            <a:chOff x="7343003" y="3409675"/>
            <a:chExt cx="1691422" cy="1732548"/>
          </a:xfrm>
        </p:grpSpPr>
        <p:grpSp>
          <p:nvGrpSpPr>
            <p:cNvPr id="11" name="Google Shape;11;g3fb8bc4b9a2_0_4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g3fb8bc4b9a2_0_4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g3fb8bc4b9a2_0_4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g3fb8bc4b9a2_0_4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g3fb8bc4b9a2_0_4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g3fb8bc4b9a2_0_4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g3fb8bc4b9a2_0_4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g3fb8bc4b9a2_0_4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g3fb8bc4b9a2_0_4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g3fb8bc4b9a2_0_4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g3fb8bc4b9a2_0_4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g3fb8bc4b9a2_0_4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g3fb8bc4b9a2_0_4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g3fb8bc4b9a2_0_4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g3fb8bc4b9a2_0_4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g3fb8bc4b9a2_0_4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g3fb8bc4b9a2_0_4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g3fb8bc4b9a2_0_4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g3fb8bc4b9a2_0_4"/>
          <p:cNvGrpSpPr/>
          <p:nvPr/>
        </p:nvGrpSpPr>
        <p:grpSpPr>
          <a:xfrm>
            <a:off x="6724502" y="0"/>
            <a:ext cx="5085303" cy="5118675"/>
            <a:chOff x="5043503" y="0"/>
            <a:chExt cx="3814072" cy="3839102"/>
          </a:xfrm>
        </p:grpSpPr>
        <p:sp>
          <p:nvSpPr>
            <p:cNvPr id="30" name="Google Shape;30;g3fb8bc4b9a2_0_4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fb8bc4b9a2_0_4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g3fb8bc4b9a2_0_4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g3fb8bc4b9a2_0_4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g3fb8bc4b9a2_0_4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g3fb8bc4b9a2_0_4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g3fb8bc4b9a2_0_4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g3fb8bc4b9a2_0_4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g3fb8bc4b9a2_0_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g3fb8bc4b9a2_0_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g3fb8bc4b9a2_0_4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g3fb8bc4b9a2_0_4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g3fb8bc4b9a2_0_4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g3fb8bc4b9a2_0_4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fb8bc4b9a2_0_4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g3fb8bc4b9a2_0_4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g3fb8bc4b9a2_0_4"/>
          <p:cNvSpPr txBox="1"/>
          <p:nvPr>
            <p:ph type="ctrTitle"/>
          </p:nvPr>
        </p:nvSpPr>
        <p:spPr>
          <a:xfrm>
            <a:off x="1098667" y="2151750"/>
            <a:ext cx="56739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g3fb8bc4b9a2_0_4"/>
          <p:cNvSpPr txBox="1"/>
          <p:nvPr>
            <p:ph idx="1" type="subTitle"/>
          </p:nvPr>
        </p:nvSpPr>
        <p:spPr>
          <a:xfrm>
            <a:off x="1098667" y="4795067"/>
            <a:ext cx="5673900" cy="927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g3fb8bc4b9a2_0_4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g3fb8bc4b9a2_0_44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51" name="Google Shape;51;g3fb8bc4b9a2_0_44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g3fb8bc4b9a2_0_44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g3fb8bc4b9a2_0_44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g3fb8bc4b9a2_0_44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g3fb8bc4b9a2_0_44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g3fb8bc4b9a2_0_44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g3fb8bc4b9a2_0_44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g3fb8bc4b9a2_0_44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g3fb8bc4b9a2_0_44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g3fb8bc4b9a2_0_44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g3fb8bc4b9a2_0_44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g3fb8bc4b9a2_0_44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g3fb8bc4b9a2_0_44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64" name="Google Shape;64;g3fb8bc4b9a2_0_44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g3fb8bc4b9a2_0_44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g3fb8bc4b9a2_0_44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g3fb8bc4b9a2_0_44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g3fb8bc4b9a2_0_44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g3fb8bc4b9a2_0_44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g3fb8bc4b9a2_0_44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g3fb8bc4b9a2_0_44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g3fb8bc4b9a2_0_44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g3fb8bc4b9a2_0_44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g3fb8bc4b9a2_0_44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g3fb8bc4b9a2_0_44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g3fb8bc4b9a2_0_44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g3fb8bc4b9a2_0_44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g3fb8bc4b9a2_0_44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g3fb8bc4b9a2_0_44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g3fb8bc4b9a2_0_44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g3fb8bc4b9a2_0_44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g3fb8bc4b9a2_0_44"/>
          <p:cNvSpPr txBox="1"/>
          <p:nvPr>
            <p:ph type="title"/>
          </p:nvPr>
        </p:nvSpPr>
        <p:spPr>
          <a:xfrm>
            <a:off x="1098667" y="2151767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g3fb8bc4b9a2_0_44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g3fb8bc4b9a2_0_79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86" name="Google Shape;86;g3fb8bc4b9a2_0_7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fb8bc4b9a2_0_7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g3fb8bc4b9a2_0_79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9" name="Google Shape;89;g3fb8bc4b9a2_0_79"/>
          <p:cNvSpPr txBox="1"/>
          <p:nvPr>
            <p:ph idx="1" type="body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0" name="Google Shape;90;g3fb8bc4b9a2_0_79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fb8bc4b9a2_0_86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93" name="Google Shape;93;g3fb8bc4b9a2_0_8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g3fb8bc4b9a2_0_8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g3fb8bc4b9a2_0_86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6" name="Google Shape;96;g3fb8bc4b9a2_0_86"/>
          <p:cNvSpPr txBox="1"/>
          <p:nvPr>
            <p:ph idx="1" type="body"/>
          </p:nvPr>
        </p:nvSpPr>
        <p:spPr>
          <a:xfrm>
            <a:off x="1738400" y="2653400"/>
            <a:ext cx="45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7" name="Google Shape;97;g3fb8bc4b9a2_0_86"/>
          <p:cNvSpPr txBox="1"/>
          <p:nvPr>
            <p:ph idx="2" type="body"/>
          </p:nvPr>
        </p:nvSpPr>
        <p:spPr>
          <a:xfrm>
            <a:off x="6538200" y="2653400"/>
            <a:ext cx="45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8" name="Google Shape;98;g3fb8bc4b9a2_0_86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g3fb8bc4b9a2_0_94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1" name="Google Shape;101;g3fb8bc4b9a2_0_9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g3fb8bc4b9a2_0_9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g3fb8bc4b9a2_0_94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4" name="Google Shape;104;g3fb8bc4b9a2_0_94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g3fb8bc4b9a2_0_100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7" name="Google Shape;107;g3fb8bc4b9a2_0_10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g3fb8bc4b9a2_0_10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g3fb8bc4b9a2_0_100"/>
          <p:cNvSpPr txBox="1"/>
          <p:nvPr>
            <p:ph type="title"/>
          </p:nvPr>
        </p:nvSpPr>
        <p:spPr>
          <a:xfrm>
            <a:off x="1738400" y="798100"/>
            <a:ext cx="4416000" cy="212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0" name="Google Shape;110;g3fb8bc4b9a2_0_100"/>
          <p:cNvSpPr txBox="1"/>
          <p:nvPr>
            <p:ph idx="1" type="body"/>
          </p:nvPr>
        </p:nvSpPr>
        <p:spPr>
          <a:xfrm>
            <a:off x="1738400" y="3079567"/>
            <a:ext cx="4416000" cy="2962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11" name="Google Shape;111;g3fb8bc4b9a2_0_100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g3fb8bc4b9a2_0_107"/>
          <p:cNvGrpSpPr/>
          <p:nvPr/>
        </p:nvGrpSpPr>
        <p:grpSpPr>
          <a:xfrm>
            <a:off x="9155392" y="1742"/>
            <a:ext cx="3023192" cy="3468833"/>
            <a:chOff x="6790514" y="1306"/>
            <a:chExt cx="2267451" cy="2601690"/>
          </a:xfrm>
        </p:grpSpPr>
        <p:grpSp>
          <p:nvGrpSpPr>
            <p:cNvPr id="114" name="Google Shape;114;g3fb8bc4b9a2_0_107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g3fb8bc4b9a2_0_107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g3fb8bc4b9a2_0_107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g3fb8bc4b9a2_0_107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g3fb8bc4b9a2_0_107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g3fb8bc4b9a2_0_107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g3fb8bc4b9a2_0_107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g3fb8bc4b9a2_0_107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g3fb8bc4b9a2_0_107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g3fb8bc4b9a2_0_107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g3fb8bc4b9a2_0_107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g3fb8bc4b9a2_0_107"/>
          <p:cNvSpPr txBox="1"/>
          <p:nvPr>
            <p:ph type="title"/>
          </p:nvPr>
        </p:nvSpPr>
        <p:spPr>
          <a:xfrm>
            <a:off x="1098667" y="1018133"/>
            <a:ext cx="7810500" cy="476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g3fb8bc4b9a2_0_107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g3fb8bc4b9a2_0_122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29" name="Google Shape;129;g3fb8bc4b9a2_0_12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g3fb8bc4b9a2_0_12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g3fb8bc4b9a2_0_122"/>
          <p:cNvSpPr txBox="1"/>
          <p:nvPr>
            <p:ph type="title"/>
          </p:nvPr>
        </p:nvSpPr>
        <p:spPr>
          <a:xfrm>
            <a:off x="1738400" y="798100"/>
            <a:ext cx="4574100" cy="26535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2" name="Google Shape;132;g3fb8bc4b9a2_0_122"/>
          <p:cNvSpPr txBox="1"/>
          <p:nvPr>
            <p:ph idx="1" type="subTitle"/>
          </p:nvPr>
        </p:nvSpPr>
        <p:spPr>
          <a:xfrm>
            <a:off x="1738400" y="3657604"/>
            <a:ext cx="4574100" cy="968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g3fb8bc4b9a2_0_122"/>
          <p:cNvSpPr txBox="1"/>
          <p:nvPr>
            <p:ph idx="2" type="body"/>
          </p:nvPr>
        </p:nvSpPr>
        <p:spPr>
          <a:xfrm>
            <a:off x="6538267" y="881333"/>
            <a:ext cx="4574100" cy="51609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34" name="Google Shape;134;g3fb8bc4b9a2_0_122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g3fb8bc4b9a2_0_130"/>
          <p:cNvGrpSpPr/>
          <p:nvPr/>
        </p:nvGrpSpPr>
        <p:grpSpPr>
          <a:xfrm>
            <a:off x="951176" y="5129497"/>
            <a:ext cx="1100560" cy="1100560"/>
            <a:chOff x="348199" y="179450"/>
            <a:chExt cx="1116300" cy="1116300"/>
          </a:xfrm>
        </p:grpSpPr>
        <p:sp>
          <p:nvSpPr>
            <p:cNvPr id="137" name="Google Shape;137;g3fb8bc4b9a2_0_13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g3fb8bc4b9a2_0_13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g3fb8bc4b9a2_0_130"/>
          <p:cNvSpPr txBox="1"/>
          <p:nvPr>
            <p:ph idx="1" type="body"/>
          </p:nvPr>
        </p:nvSpPr>
        <p:spPr>
          <a:xfrm>
            <a:off x="1738400" y="5518633"/>
            <a:ext cx="7790700" cy="71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40" name="Google Shape;140;g3fb8bc4b9a2_0_130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g3fb8bc4b9a2_0_136"/>
          <p:cNvGrpSpPr/>
          <p:nvPr/>
        </p:nvGrpSpPr>
        <p:grpSpPr>
          <a:xfrm>
            <a:off x="69" y="5465463"/>
            <a:ext cx="12191743" cy="1392365"/>
            <a:chOff x="52" y="4099200"/>
            <a:chExt cx="9144036" cy="1044300"/>
          </a:xfrm>
        </p:grpSpPr>
        <p:grpSp>
          <p:nvGrpSpPr>
            <p:cNvPr id="143" name="Google Shape;143;g3fb8bc4b9a2_0_136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g3fb8bc4b9a2_0_136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g3fb8bc4b9a2_0_136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g3fb8bc4b9a2_0_136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g3fb8bc4b9a2_0_136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g3fb8bc4b9a2_0_136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g3fb8bc4b9a2_0_136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g3fb8bc4b9a2_0_136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g3fb8bc4b9a2_0_136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g3fb8bc4b9a2_0_136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g3fb8bc4b9a2_0_136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g3fb8bc4b9a2_0_136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g3fb8bc4b9a2_0_136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g3fb8bc4b9a2_0_136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g3fb8bc4b9a2_0_136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g3fb8bc4b9a2_0_136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g3fb8bc4b9a2_0_136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g3fb8bc4b9a2_0_136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g3fb8bc4b9a2_0_136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g3fb8bc4b9a2_0_136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g3fb8bc4b9a2_0_136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g3fb8bc4b9a2_0_136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g3fb8bc4b9a2_0_136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g3fb8bc4b9a2_0_136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g3fb8bc4b9a2_0_136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g3fb8bc4b9a2_0_136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g3fb8bc4b9a2_0_136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g3fb8bc4b9a2_0_136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g3fb8bc4b9a2_0_136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g3fb8bc4b9a2_0_136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g3fb8bc4b9a2_0_136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g3fb8bc4b9a2_0_136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g3fb8bc4b9a2_0_136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g3fb8bc4b9a2_0_136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g3fb8bc4b9a2_0_136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g3fb8bc4b9a2_0_136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g3fb8bc4b9a2_0_136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g3fb8bc4b9a2_0_136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g3fb8bc4b9a2_0_136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g3fb8bc4b9a2_0_136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g3fb8bc4b9a2_0_136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g3fb8bc4b9a2_0_136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g3fb8bc4b9a2_0_136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g3fb8bc4b9a2_0_136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g3fb8bc4b9a2_0_136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g3fb8bc4b9a2_0_136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g3fb8bc4b9a2_0_136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g3fb8bc4b9a2_0_136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g3fb8bc4b9a2_0_136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g3fb8bc4b9a2_0_136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g3fb8bc4b9a2_0_136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g3fb8bc4b9a2_0_136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g3fb8bc4b9a2_0_136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g3fb8bc4b9a2_0_136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g3fb8bc4b9a2_0_136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g3fb8bc4b9a2_0_136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g3fb8bc4b9a2_0_136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g3fb8bc4b9a2_0_136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g3fb8bc4b9a2_0_136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g3fb8bc4b9a2_0_136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g3fb8bc4b9a2_0_136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g3fb8bc4b9a2_0_136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g3fb8bc4b9a2_0_136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g3fb8bc4b9a2_0_136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g3fb8bc4b9a2_0_136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g3fb8bc4b9a2_0_136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g3fb8bc4b9a2_0_136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g3fb8bc4b9a2_0_136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g3fb8bc4b9a2_0_136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g3fb8bc4b9a2_0_136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g3fb8bc4b9a2_0_136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g3fb8bc4b9a2_0_136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g3fb8bc4b9a2_0_136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g3fb8bc4b9a2_0_136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g3fb8bc4b9a2_0_136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g3fb8bc4b9a2_0_136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g3fb8bc4b9a2_0_136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g3fb8bc4b9a2_0_136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g3fb8bc4b9a2_0_136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g3fb8bc4b9a2_0_136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g3fb8bc4b9a2_0_136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g3fb8bc4b9a2_0_136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g3fb8bc4b9a2_0_136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g3fb8bc4b9a2_0_136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g3fb8bc4b9a2_0_136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g3fb8bc4b9a2_0_136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g3fb8bc4b9a2_0_136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g3fb8bc4b9a2_0_136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g3fb8bc4b9a2_0_136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g3fb8bc4b9a2_0_136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g3fb8bc4b9a2_0_136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g3fb8bc4b9a2_0_136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g3fb8bc4b9a2_0_136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g3fb8bc4b9a2_0_136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g3fb8bc4b9a2_0_136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g3fb8bc4b9a2_0_136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g3fb8bc4b9a2_0_136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g3fb8bc4b9a2_0_136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g3fb8bc4b9a2_0_136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g3fb8bc4b9a2_0_136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g3fb8bc4b9a2_0_136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g3fb8bc4b9a2_0_136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g3fb8bc4b9a2_0_136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g3fb8bc4b9a2_0_136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g3fb8bc4b9a2_0_136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g3fb8bc4b9a2_0_136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g3fb8bc4b9a2_0_136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g3fb8bc4b9a2_0_136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g3fb8bc4b9a2_0_136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g3fb8bc4b9a2_0_136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g3fb8bc4b9a2_0_136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g3fb8bc4b9a2_0_136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g3fb8bc4b9a2_0_136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g3fb8bc4b9a2_0_136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g3fb8bc4b9a2_0_136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g3fb8bc4b9a2_0_136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g3fb8bc4b9a2_0_136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g3fb8bc4b9a2_0_136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g3fb8bc4b9a2_0_136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g3fb8bc4b9a2_0_136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g3fb8bc4b9a2_0_136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g3fb8bc4b9a2_0_136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g3fb8bc4b9a2_0_136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g3fb8bc4b9a2_0_136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g3fb8bc4b9a2_0_136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g3fb8bc4b9a2_0_136"/>
          <p:cNvSpPr txBox="1"/>
          <p:nvPr>
            <p:ph hasCustomPrompt="1" type="title"/>
          </p:nvPr>
        </p:nvSpPr>
        <p:spPr>
          <a:xfrm>
            <a:off x="1851500" y="1030300"/>
            <a:ext cx="8489100" cy="248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g3fb8bc4b9a2_0_136"/>
          <p:cNvSpPr txBox="1"/>
          <p:nvPr>
            <p:ph idx="1" type="body"/>
          </p:nvPr>
        </p:nvSpPr>
        <p:spPr>
          <a:xfrm>
            <a:off x="1851500" y="3616400"/>
            <a:ext cx="8489100" cy="14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g3fb8bc4b9a2_0_136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b8bc4b9a2_0_266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8bc4b9a2_0_26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5" name="Google Shape;275;g3fb8bc4b9a2_0_26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76" name="Google Shape;276;g3fb8bc4b9a2_0_26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g3fb8bc4b9a2_0_26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g3fb8bc4b9a2_0_26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b8bc4b9a2_0_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g3fb8bc4b9a2_0_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Nunito"/>
              <a:buChar char="●"/>
              <a:defRPr sz="1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g3fb8bc4b9a2_0_0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AFE7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"/>
          <p:cNvSpPr txBox="1"/>
          <p:nvPr>
            <p:ph type="ctrTitle"/>
          </p:nvPr>
        </p:nvSpPr>
        <p:spPr>
          <a:xfrm>
            <a:off x="540967" y="457900"/>
            <a:ext cx="5673900" cy="249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/>
              <a:t>NicaTrade International</a:t>
            </a:r>
            <a:endParaRPr/>
          </a:p>
        </p:txBody>
      </p:sp>
      <p:sp>
        <p:nvSpPr>
          <p:cNvPr id="284" name="Google Shape;284;p1"/>
          <p:cNvSpPr txBox="1"/>
          <p:nvPr>
            <p:ph idx="1" type="subTitle"/>
          </p:nvPr>
        </p:nvSpPr>
        <p:spPr>
          <a:xfrm>
            <a:off x="540975" y="2944050"/>
            <a:ext cx="53532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Operación de importación.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 México → Nicaragua. </a:t>
            </a:r>
            <a:endParaRPr b="1"/>
          </a:p>
        </p:txBody>
      </p:sp>
      <p:sp>
        <p:nvSpPr>
          <p:cNvPr id="285" name="Google Shape;285;p1"/>
          <p:cNvSpPr txBox="1"/>
          <p:nvPr/>
        </p:nvSpPr>
        <p:spPr>
          <a:xfrm>
            <a:off x="712941" y="4055575"/>
            <a:ext cx="6510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Integrantes: </a:t>
            </a:r>
            <a:r>
              <a:rPr b="0" i="0" lang="en-US" sz="2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Kamila Nazareth Tellez Ortega</a:t>
            </a:r>
            <a:endParaRPr>
              <a:solidFill>
                <a:schemeClr val="accent5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Sofian Gabriela Huete Rizo</a:t>
            </a:r>
            <a:endParaRPr sz="2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741B47"/>
                </a:solidFill>
              </a:rPr>
              <a:t>Empresa y operación</a:t>
            </a:r>
            <a:endParaRPr b="1" sz="4800">
              <a:solidFill>
                <a:srgbClr val="741B47"/>
              </a:solidFill>
            </a:endParaRPr>
          </a:p>
        </p:txBody>
      </p:sp>
      <p:sp>
        <p:nvSpPr>
          <p:cNvPr id="291" name="Google Shape;291;p2"/>
          <p:cNvSpPr txBox="1"/>
          <p:nvPr>
            <p:ph idx="1" type="body"/>
          </p:nvPr>
        </p:nvSpPr>
        <p:spPr>
          <a:xfrm>
            <a:off x="838199" y="2015067"/>
            <a:ext cx="10896601" cy="4477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93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2800"/>
              <a:buChar char="●"/>
            </a:pPr>
            <a:r>
              <a:rPr b="1" lang="en-US">
                <a:solidFill>
                  <a:srgbClr val="A64D79"/>
                </a:solidFill>
              </a:rPr>
              <a:t>Actividad de la empresa</a:t>
            </a:r>
            <a:br>
              <a:rPr lang="en-US">
                <a:solidFill>
                  <a:srgbClr val="A64D79"/>
                </a:solidFill>
              </a:rPr>
            </a:br>
            <a:r>
              <a:rPr lang="en-US">
                <a:solidFill>
                  <a:srgbClr val="A64D79"/>
                </a:solidFill>
              </a:rPr>
              <a:t>Importación y comercialización de diferentes productos para su distribución en el mercado nicaragüense.</a:t>
            </a:r>
            <a:endParaRPr>
              <a:solidFill>
                <a:srgbClr val="A64D79"/>
              </a:solidFill>
            </a:endParaRPr>
          </a:p>
          <a:p>
            <a:pPr indent="-2419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4D79"/>
              </a:buClr>
              <a:buSzPts val="2800"/>
              <a:buChar char="●"/>
            </a:pPr>
            <a:r>
              <a:rPr b="1" lang="en-US">
                <a:solidFill>
                  <a:srgbClr val="A64D79"/>
                </a:solidFill>
              </a:rPr>
              <a:t>Operación analizada</a:t>
            </a:r>
            <a:br>
              <a:rPr lang="en-US">
                <a:solidFill>
                  <a:srgbClr val="A64D79"/>
                </a:solidFill>
              </a:rPr>
            </a:br>
            <a:r>
              <a:rPr lang="en-US">
                <a:solidFill>
                  <a:srgbClr val="A64D79"/>
                </a:solidFill>
              </a:rPr>
              <a:t>Importación de mercancías destinadas a la comercialización.</a:t>
            </a:r>
            <a:endParaRPr>
              <a:solidFill>
                <a:srgbClr val="A64D79"/>
              </a:solidFill>
            </a:endParaRPr>
          </a:p>
          <a:p>
            <a:pPr indent="-2419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4D79"/>
              </a:buClr>
              <a:buSzPts val="2800"/>
              <a:buChar char="●"/>
            </a:pPr>
            <a:r>
              <a:rPr b="1" lang="en-US">
                <a:solidFill>
                  <a:srgbClr val="A64D79"/>
                </a:solidFill>
              </a:rPr>
              <a:t>País de origen</a:t>
            </a:r>
            <a:br>
              <a:rPr lang="en-US">
                <a:solidFill>
                  <a:srgbClr val="A64D79"/>
                </a:solidFill>
              </a:rPr>
            </a:br>
            <a:r>
              <a:rPr lang="en-US">
                <a:solidFill>
                  <a:srgbClr val="A64D79"/>
                </a:solidFill>
              </a:rPr>
              <a:t>México</a:t>
            </a:r>
            <a:endParaRPr>
              <a:solidFill>
                <a:srgbClr val="A64D79"/>
              </a:solidFill>
            </a:endParaRPr>
          </a:p>
          <a:p>
            <a:pPr indent="-2419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4D79"/>
              </a:buClr>
              <a:buSzPts val="2800"/>
              <a:buChar char="●"/>
            </a:pPr>
            <a:r>
              <a:rPr b="1" lang="en-US">
                <a:solidFill>
                  <a:srgbClr val="A64D79"/>
                </a:solidFill>
              </a:rPr>
              <a:t>País de destino</a:t>
            </a:r>
            <a:br>
              <a:rPr lang="en-US">
                <a:solidFill>
                  <a:srgbClr val="A64D79"/>
                </a:solidFill>
              </a:rPr>
            </a:br>
            <a:r>
              <a:rPr lang="en-US">
                <a:solidFill>
                  <a:srgbClr val="A64D79"/>
                </a:solidFill>
              </a:rPr>
              <a:t>Nicaragua</a:t>
            </a:r>
            <a:endParaRPr>
              <a:solidFill>
                <a:srgbClr val="A64D79"/>
              </a:solidFill>
            </a:endParaRPr>
          </a:p>
          <a:p>
            <a:pPr indent="-241935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rgbClr val="A64D79"/>
              </a:buClr>
              <a:buSzPts val="2800"/>
              <a:buChar char="●"/>
            </a:pPr>
            <a:r>
              <a:rPr b="1" lang="en-US">
                <a:solidFill>
                  <a:srgbClr val="A64D79"/>
                </a:solidFill>
              </a:rPr>
              <a:t>Productos importados</a:t>
            </a:r>
            <a:br>
              <a:rPr lang="en-US">
                <a:solidFill>
                  <a:srgbClr val="A64D79"/>
                </a:solidFill>
              </a:rPr>
            </a:br>
            <a:r>
              <a:rPr lang="en-US">
                <a:solidFill>
                  <a:srgbClr val="A64D79"/>
                </a:solidFill>
              </a:rPr>
              <a:t>Alimentos, bebidas, productos de limpieza, artículos para el hogar, oficina, tecnología y accesorios.</a:t>
            </a:r>
            <a:endParaRPr>
              <a:solidFill>
                <a:srgbClr val="A64D7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"/>
          <p:cNvSpPr txBox="1"/>
          <p:nvPr>
            <p:ph type="title"/>
          </p:nvPr>
        </p:nvSpPr>
        <p:spPr>
          <a:xfrm>
            <a:off x="838200" y="365126"/>
            <a:ext cx="10515600" cy="667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41B47"/>
                </a:solidFill>
              </a:rPr>
              <a:t>RESULTADOS</a:t>
            </a:r>
            <a:endParaRPr>
              <a:solidFill>
                <a:srgbClr val="741B47"/>
              </a:solidFill>
            </a:endParaRPr>
          </a:p>
        </p:txBody>
      </p:sp>
      <p:sp>
        <p:nvSpPr>
          <p:cNvPr id="297" name="Google Shape;297;p3"/>
          <p:cNvSpPr/>
          <p:nvPr/>
        </p:nvSpPr>
        <p:spPr>
          <a:xfrm>
            <a:off x="694267" y="2063221"/>
            <a:ext cx="2472266" cy="832379"/>
          </a:xfrm>
          <a:prstGeom prst="roundRect">
            <a:avLst>
              <a:gd fmla="val 16667" name="adj"/>
            </a:avLst>
          </a:prstGeom>
          <a:solidFill>
            <a:srgbClr val="CFAFE7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USD 40,359.00</a:t>
            </a:r>
            <a:endParaRPr/>
          </a:p>
        </p:txBody>
      </p:sp>
      <p:sp>
        <p:nvSpPr>
          <p:cNvPr id="298" name="Google Shape;298;p3"/>
          <p:cNvSpPr txBox="1"/>
          <p:nvPr/>
        </p:nvSpPr>
        <p:spPr>
          <a:xfrm>
            <a:off x="541867" y="1334621"/>
            <a:ext cx="4470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64D79"/>
                </a:solidFill>
                <a:latin typeface="Calibri"/>
                <a:ea typeface="Calibri"/>
                <a:cs typeface="Calibri"/>
                <a:sym typeface="Calibri"/>
              </a:rPr>
              <a:t>Total de  operación</a:t>
            </a:r>
            <a:endParaRPr b="1" sz="2800">
              <a:solidFill>
                <a:srgbClr val="A64D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"/>
          <p:cNvSpPr txBox="1"/>
          <p:nvPr/>
        </p:nvSpPr>
        <p:spPr>
          <a:xfrm>
            <a:off x="541867" y="2925078"/>
            <a:ext cx="4470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27BA0"/>
                </a:solidFill>
                <a:latin typeface="Calibri"/>
                <a:ea typeface="Calibri"/>
                <a:cs typeface="Calibri"/>
                <a:sym typeface="Calibri"/>
              </a:rPr>
              <a:t>Producto con mayor importe</a:t>
            </a:r>
            <a:endParaRPr b="1" sz="2800">
              <a:solidFill>
                <a:srgbClr val="C27B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"/>
          <p:cNvSpPr txBox="1"/>
          <p:nvPr/>
        </p:nvSpPr>
        <p:spPr>
          <a:xfrm>
            <a:off x="541867" y="4738550"/>
            <a:ext cx="4470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64D79"/>
                </a:solidFill>
                <a:latin typeface="Calibri"/>
                <a:ea typeface="Calibri"/>
                <a:cs typeface="Calibri"/>
                <a:sym typeface="Calibri"/>
              </a:rPr>
              <a:t>Precio promedio </a:t>
            </a:r>
            <a:endParaRPr>
              <a:solidFill>
                <a:srgbClr val="A64D79"/>
              </a:solidFill>
            </a:endParaRPr>
          </a:p>
        </p:txBody>
      </p:sp>
      <p:sp>
        <p:nvSpPr>
          <p:cNvPr id="301" name="Google Shape;301;p3"/>
          <p:cNvSpPr/>
          <p:nvPr/>
        </p:nvSpPr>
        <p:spPr>
          <a:xfrm>
            <a:off x="694267" y="3612937"/>
            <a:ext cx="2641600" cy="832379"/>
          </a:xfrm>
          <a:prstGeom prst="roundRect">
            <a:avLst>
              <a:gd fmla="val 16667" name="adj"/>
            </a:avLst>
          </a:prstGeom>
          <a:solidFill>
            <a:srgbClr val="CFAFE7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USD 1,912.50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Mochilas</a:t>
            </a:r>
            <a:endParaRPr/>
          </a:p>
        </p:txBody>
      </p:sp>
      <p:sp>
        <p:nvSpPr>
          <p:cNvPr id="302" name="Google Shape;302;p3"/>
          <p:cNvSpPr/>
          <p:nvPr/>
        </p:nvSpPr>
        <p:spPr>
          <a:xfrm>
            <a:off x="694267" y="5504063"/>
            <a:ext cx="2472266" cy="832379"/>
          </a:xfrm>
          <a:prstGeom prst="roundRect">
            <a:avLst>
              <a:gd fmla="val 16667" name="adj"/>
            </a:avLst>
          </a:prstGeom>
          <a:solidFill>
            <a:srgbClr val="CFAFE7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USD 7.74</a:t>
            </a:r>
            <a:endParaRPr/>
          </a:p>
        </p:txBody>
      </p:sp>
      <p:graphicFrame>
        <p:nvGraphicFramePr>
          <p:cNvPr id="303" name="Google Shape;303;p3"/>
          <p:cNvGraphicFramePr/>
          <p:nvPr/>
        </p:nvGraphicFramePr>
        <p:xfrm>
          <a:off x="5012274" y="1367329"/>
          <a:ext cx="6341400" cy="45528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AFE7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"/>
          <p:cNvSpPr txBox="1"/>
          <p:nvPr>
            <p:ph type="title"/>
          </p:nvPr>
        </p:nvSpPr>
        <p:spPr>
          <a:xfrm>
            <a:off x="1564800" y="-1009725"/>
            <a:ext cx="7419900" cy="249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/>
              <a:t>CONCLUSIONES</a:t>
            </a:r>
            <a:endParaRPr/>
          </a:p>
        </p:txBody>
      </p:sp>
      <p:sp>
        <p:nvSpPr>
          <p:cNvPr id="309" name="Google Shape;309;p4"/>
          <p:cNvSpPr txBox="1"/>
          <p:nvPr>
            <p:ph idx="4294967295" type="subTitle"/>
          </p:nvPr>
        </p:nvSpPr>
        <p:spPr>
          <a:xfrm>
            <a:off x="1058133" y="1894862"/>
            <a:ext cx="10566300" cy="44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800">
                <a:solidFill>
                  <a:srgbClr val="31538F"/>
                </a:solidFill>
              </a:rPr>
              <a:t> Resultado principal</a:t>
            </a:r>
            <a:br>
              <a:rPr lang="en-US" sz="2800">
                <a:solidFill>
                  <a:srgbClr val="31538F"/>
                </a:solidFill>
              </a:rPr>
            </a:br>
            <a:r>
              <a:rPr lang="en-US" sz="2800">
                <a:solidFill>
                  <a:srgbClr val="31538F"/>
                </a:solidFill>
              </a:rPr>
              <a:t>La operación analizada representa un importe total de </a:t>
            </a:r>
            <a:r>
              <a:rPr b="1" lang="en-US" sz="2800">
                <a:solidFill>
                  <a:srgbClr val="31538F"/>
                </a:solidFill>
              </a:rPr>
              <a:t>USD 40,359.00</a:t>
            </a:r>
            <a:r>
              <a:rPr lang="en-US" sz="2800">
                <a:solidFill>
                  <a:srgbClr val="31538F"/>
                </a:solidFill>
              </a:rPr>
              <a:t>, destacando las </a:t>
            </a:r>
            <a:r>
              <a:rPr i="1" lang="en-US" sz="2800">
                <a:solidFill>
                  <a:srgbClr val="31538F"/>
                </a:solidFill>
              </a:rPr>
              <a:t>Mochilas</a:t>
            </a:r>
            <a:r>
              <a:rPr lang="en-US" sz="2800">
                <a:solidFill>
                  <a:srgbClr val="31538F"/>
                </a:solidFill>
              </a:rPr>
              <a:t> como el producto con mayor importe individual.</a:t>
            </a:r>
            <a:endParaRPr>
              <a:solidFill>
                <a:srgbClr val="31538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800">
                <a:solidFill>
                  <a:srgbClr val="31538F"/>
                </a:solidFill>
              </a:rPr>
              <a:t> Importancia del análisis</a:t>
            </a:r>
            <a:br>
              <a:rPr lang="en-US" sz="2800">
                <a:solidFill>
                  <a:srgbClr val="31538F"/>
                </a:solidFill>
              </a:rPr>
            </a:br>
            <a:r>
              <a:rPr lang="en-US" sz="2800">
                <a:solidFill>
                  <a:srgbClr val="31538F"/>
                </a:solidFill>
              </a:rPr>
              <a:t>Analizar la información permite conocer los costos, precios e importes de los productos, facilitando el control y la toma de decisiones.</a:t>
            </a:r>
            <a:endParaRPr>
              <a:solidFill>
                <a:srgbClr val="31538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800">
                <a:solidFill>
                  <a:srgbClr val="31538F"/>
                </a:solidFill>
              </a:rPr>
              <a:t> Gestión digital de la información</a:t>
            </a:r>
            <a:br>
              <a:rPr lang="en-US" sz="2800">
                <a:solidFill>
                  <a:srgbClr val="31538F"/>
                </a:solidFill>
              </a:rPr>
            </a:br>
            <a:r>
              <a:rPr lang="en-US" sz="2800">
                <a:solidFill>
                  <a:srgbClr val="31538F"/>
                </a:solidFill>
              </a:rPr>
              <a:t>El uso de herramientas digitales permite organizar, actualizar y analizar los datos de manera más rápida y precisa, reduciendo errores y facilitando el seguimiento de las operaciones internacionales.</a:t>
            </a:r>
            <a:endParaRPr>
              <a:solidFill>
                <a:srgbClr val="31538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2026-09-17T14:35:22Z</dcterms:created>
  <dc:creator>Kamila Tellez</dc:creator>
</cp:coreProperties>
</file>